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B0F03D-5CAD-4946-BBC5-AD09C00B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F4758A-BB2D-41FB-AEDE-A99B5A8009E8}">
      <dgm:prSet/>
      <dgm:spPr/>
      <dgm:t>
        <a:bodyPr/>
        <a:lstStyle/>
        <a:p>
          <a:r>
            <a:rPr lang="en-US"/>
            <a:t>The project automates the 'Cookie Clicker' game using UiPath workflows and activities for parallel browser interactions and event notifications about the progress (via email).</a:t>
          </a:r>
        </a:p>
      </dgm:t>
    </dgm:pt>
    <dgm:pt modelId="{3E027838-748C-4DF1-B1D3-3CC75F14585A}" type="parTrans" cxnId="{3F1CC34D-AEB7-4752-9EF1-6092316C3975}">
      <dgm:prSet/>
      <dgm:spPr/>
      <dgm:t>
        <a:bodyPr/>
        <a:lstStyle/>
        <a:p>
          <a:endParaRPr lang="en-US"/>
        </a:p>
      </dgm:t>
    </dgm:pt>
    <dgm:pt modelId="{C1D99ED4-2211-4551-9894-F938AB6178BC}" type="sibTrans" cxnId="{3F1CC34D-AEB7-4752-9EF1-6092316C3975}">
      <dgm:prSet/>
      <dgm:spPr/>
      <dgm:t>
        <a:bodyPr/>
        <a:lstStyle/>
        <a:p>
          <a:endParaRPr lang="en-US"/>
        </a:p>
      </dgm:t>
    </dgm:pt>
    <dgm:pt modelId="{7173E628-AEC5-4A13-AD9E-0ACF92C44BBA}">
      <dgm:prSet/>
      <dgm:spPr/>
      <dgm:t>
        <a:bodyPr/>
        <a:lstStyle/>
        <a:p>
          <a:r>
            <a:rPr lang="en-US"/>
            <a:t>Key Tools Used:</a:t>
          </a:r>
        </a:p>
      </dgm:t>
    </dgm:pt>
    <dgm:pt modelId="{26B2380E-9916-4419-9998-668B8598E917}" type="parTrans" cxnId="{37516333-DCED-4F64-BCBD-1A240813AE6E}">
      <dgm:prSet/>
      <dgm:spPr/>
      <dgm:t>
        <a:bodyPr/>
        <a:lstStyle/>
        <a:p>
          <a:endParaRPr lang="en-US"/>
        </a:p>
      </dgm:t>
    </dgm:pt>
    <dgm:pt modelId="{C8787F58-C4E1-49F8-88F2-5B1AD7543A3B}" type="sibTrans" cxnId="{37516333-DCED-4F64-BCBD-1A240813AE6E}">
      <dgm:prSet/>
      <dgm:spPr/>
      <dgm:t>
        <a:bodyPr/>
        <a:lstStyle/>
        <a:p>
          <a:endParaRPr lang="en-US"/>
        </a:p>
      </dgm:t>
    </dgm:pt>
    <dgm:pt modelId="{CC647A82-AD40-4255-9BAC-1461F22E96C7}">
      <dgm:prSet/>
      <dgm:spPr/>
      <dgm:t>
        <a:bodyPr/>
        <a:lstStyle/>
        <a:p>
          <a:r>
            <a:rPr lang="en-US" dirty="0"/>
            <a:t>- UiPath System, Mail, UI automation activities</a:t>
          </a:r>
        </a:p>
      </dgm:t>
    </dgm:pt>
    <dgm:pt modelId="{C8CFB559-144D-426C-882B-EAFA3E3C914D}" type="parTrans" cxnId="{8B2FB134-0E8C-4E35-996F-348EF1758EB2}">
      <dgm:prSet/>
      <dgm:spPr/>
      <dgm:t>
        <a:bodyPr/>
        <a:lstStyle/>
        <a:p>
          <a:endParaRPr lang="en-US"/>
        </a:p>
      </dgm:t>
    </dgm:pt>
    <dgm:pt modelId="{C177EDB9-035E-4E3F-AA64-39A6C26EAE08}" type="sibTrans" cxnId="{8B2FB134-0E8C-4E35-996F-348EF1758EB2}">
      <dgm:prSet/>
      <dgm:spPr/>
      <dgm:t>
        <a:bodyPr/>
        <a:lstStyle/>
        <a:p>
          <a:endParaRPr lang="en-US"/>
        </a:p>
      </dgm:t>
    </dgm:pt>
    <dgm:pt modelId="{5D8E18F5-C91B-401A-B96D-D84DC4D55136}">
      <dgm:prSet/>
      <dgm:spPr/>
      <dgm:t>
        <a:bodyPr/>
        <a:lstStyle/>
        <a:p>
          <a:r>
            <a:rPr lang="en-US"/>
            <a:t>- Modern workflow execution</a:t>
          </a:r>
        </a:p>
      </dgm:t>
    </dgm:pt>
    <dgm:pt modelId="{625195F7-1DDA-47DB-9D92-49353336C5DB}" type="parTrans" cxnId="{E2BD84FC-DDA5-4258-9515-F15790FD57B8}">
      <dgm:prSet/>
      <dgm:spPr/>
      <dgm:t>
        <a:bodyPr/>
        <a:lstStyle/>
        <a:p>
          <a:endParaRPr lang="en-US"/>
        </a:p>
      </dgm:t>
    </dgm:pt>
    <dgm:pt modelId="{2B0D5262-2461-4DE8-97A4-246AE0CF9EA6}" type="sibTrans" cxnId="{E2BD84FC-DDA5-4258-9515-F15790FD57B8}">
      <dgm:prSet/>
      <dgm:spPr/>
      <dgm:t>
        <a:bodyPr/>
        <a:lstStyle/>
        <a:p>
          <a:endParaRPr lang="en-US"/>
        </a:p>
      </dgm:t>
    </dgm:pt>
    <dgm:pt modelId="{6D755073-2DA6-48EB-96BC-D64F5F810507}" type="pres">
      <dgm:prSet presAssocID="{3CB0F03D-5CAD-4946-BBC5-AD09C00B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BDCA19-432F-4DAB-A591-0E7D921058E9}" type="pres">
      <dgm:prSet presAssocID="{EEF4758A-BB2D-41FB-AEDE-A99B5A8009E8}" presName="hierRoot1" presStyleCnt="0"/>
      <dgm:spPr/>
    </dgm:pt>
    <dgm:pt modelId="{842DAD63-E8F8-4464-8DAC-C47DC1B4D3E1}" type="pres">
      <dgm:prSet presAssocID="{EEF4758A-BB2D-41FB-AEDE-A99B5A8009E8}" presName="composite" presStyleCnt="0"/>
      <dgm:spPr/>
    </dgm:pt>
    <dgm:pt modelId="{CB3AA623-0319-493D-AED6-030CF19FA886}" type="pres">
      <dgm:prSet presAssocID="{EEF4758A-BB2D-41FB-AEDE-A99B5A8009E8}" presName="background" presStyleLbl="node0" presStyleIdx="0" presStyleCnt="2"/>
      <dgm:spPr/>
    </dgm:pt>
    <dgm:pt modelId="{ED113395-C147-4E5A-86D7-EF96C688C184}" type="pres">
      <dgm:prSet presAssocID="{EEF4758A-BB2D-41FB-AEDE-A99B5A8009E8}" presName="text" presStyleLbl="fgAcc0" presStyleIdx="0" presStyleCnt="2">
        <dgm:presLayoutVars>
          <dgm:chPref val="3"/>
        </dgm:presLayoutVars>
      </dgm:prSet>
      <dgm:spPr/>
    </dgm:pt>
    <dgm:pt modelId="{47019D66-792F-4B4C-9DFC-5992EA5C6615}" type="pres">
      <dgm:prSet presAssocID="{EEF4758A-BB2D-41FB-AEDE-A99B5A8009E8}" presName="hierChild2" presStyleCnt="0"/>
      <dgm:spPr/>
    </dgm:pt>
    <dgm:pt modelId="{0F5B3373-A813-49AB-AE84-EEF6029767EF}" type="pres">
      <dgm:prSet presAssocID="{7173E628-AEC5-4A13-AD9E-0ACF92C44BBA}" presName="hierRoot1" presStyleCnt="0"/>
      <dgm:spPr/>
    </dgm:pt>
    <dgm:pt modelId="{721B1342-4ACE-4BDF-BDE8-22647ABC1EE3}" type="pres">
      <dgm:prSet presAssocID="{7173E628-AEC5-4A13-AD9E-0ACF92C44BBA}" presName="composite" presStyleCnt="0"/>
      <dgm:spPr/>
    </dgm:pt>
    <dgm:pt modelId="{D5F8831D-1809-4DCD-ACB8-477CA170B9DB}" type="pres">
      <dgm:prSet presAssocID="{7173E628-AEC5-4A13-AD9E-0ACF92C44BBA}" presName="background" presStyleLbl="node0" presStyleIdx="1" presStyleCnt="2"/>
      <dgm:spPr/>
    </dgm:pt>
    <dgm:pt modelId="{D5EE8C27-9EE2-4395-886B-CD012506B452}" type="pres">
      <dgm:prSet presAssocID="{7173E628-AEC5-4A13-AD9E-0ACF92C44BBA}" presName="text" presStyleLbl="fgAcc0" presStyleIdx="1" presStyleCnt="2">
        <dgm:presLayoutVars>
          <dgm:chPref val="3"/>
        </dgm:presLayoutVars>
      </dgm:prSet>
      <dgm:spPr/>
    </dgm:pt>
    <dgm:pt modelId="{8E8D861C-CD26-4ED7-93EB-BA7803FB0DB7}" type="pres">
      <dgm:prSet presAssocID="{7173E628-AEC5-4A13-AD9E-0ACF92C44BBA}" presName="hierChild2" presStyleCnt="0"/>
      <dgm:spPr/>
    </dgm:pt>
    <dgm:pt modelId="{BC9FBA4C-C539-4964-9FE6-5DD294012E38}" type="pres">
      <dgm:prSet presAssocID="{C8CFB559-144D-426C-882B-EAFA3E3C914D}" presName="Name10" presStyleLbl="parChTrans1D2" presStyleIdx="0" presStyleCnt="2"/>
      <dgm:spPr/>
    </dgm:pt>
    <dgm:pt modelId="{6FCD95F1-27DD-4701-9B3C-4691CDB02388}" type="pres">
      <dgm:prSet presAssocID="{CC647A82-AD40-4255-9BAC-1461F22E96C7}" presName="hierRoot2" presStyleCnt="0"/>
      <dgm:spPr/>
    </dgm:pt>
    <dgm:pt modelId="{21C821CD-8366-4408-8E60-21FD6E90FD8B}" type="pres">
      <dgm:prSet presAssocID="{CC647A82-AD40-4255-9BAC-1461F22E96C7}" presName="composite2" presStyleCnt="0"/>
      <dgm:spPr/>
    </dgm:pt>
    <dgm:pt modelId="{5A701078-2BDE-4A0F-ACF3-010B244C9A3B}" type="pres">
      <dgm:prSet presAssocID="{CC647A82-AD40-4255-9BAC-1461F22E96C7}" presName="background2" presStyleLbl="node2" presStyleIdx="0" presStyleCnt="2"/>
      <dgm:spPr/>
    </dgm:pt>
    <dgm:pt modelId="{F38EF4E7-93C6-4E39-9CE7-9D819D6969C3}" type="pres">
      <dgm:prSet presAssocID="{CC647A82-AD40-4255-9BAC-1461F22E96C7}" presName="text2" presStyleLbl="fgAcc2" presStyleIdx="0" presStyleCnt="2">
        <dgm:presLayoutVars>
          <dgm:chPref val="3"/>
        </dgm:presLayoutVars>
      </dgm:prSet>
      <dgm:spPr/>
    </dgm:pt>
    <dgm:pt modelId="{112C72B5-2E64-400D-A564-120022671BED}" type="pres">
      <dgm:prSet presAssocID="{CC647A82-AD40-4255-9BAC-1461F22E96C7}" presName="hierChild3" presStyleCnt="0"/>
      <dgm:spPr/>
    </dgm:pt>
    <dgm:pt modelId="{FC52C394-B293-4CBD-A7D8-49540310699C}" type="pres">
      <dgm:prSet presAssocID="{625195F7-1DDA-47DB-9D92-49353336C5DB}" presName="Name10" presStyleLbl="parChTrans1D2" presStyleIdx="1" presStyleCnt="2"/>
      <dgm:spPr/>
    </dgm:pt>
    <dgm:pt modelId="{23C4F75C-4E9B-4C45-83B1-8E4B6E51E832}" type="pres">
      <dgm:prSet presAssocID="{5D8E18F5-C91B-401A-B96D-D84DC4D55136}" presName="hierRoot2" presStyleCnt="0"/>
      <dgm:spPr/>
    </dgm:pt>
    <dgm:pt modelId="{B32F7FAC-0960-461C-A065-0CF8A7CDB593}" type="pres">
      <dgm:prSet presAssocID="{5D8E18F5-C91B-401A-B96D-D84DC4D55136}" presName="composite2" presStyleCnt="0"/>
      <dgm:spPr/>
    </dgm:pt>
    <dgm:pt modelId="{80244BC9-7246-4A88-B9C5-F007B20D85FC}" type="pres">
      <dgm:prSet presAssocID="{5D8E18F5-C91B-401A-B96D-D84DC4D55136}" presName="background2" presStyleLbl="node2" presStyleIdx="1" presStyleCnt="2"/>
      <dgm:spPr/>
    </dgm:pt>
    <dgm:pt modelId="{6DD2B9A9-9C91-4553-87F8-2276BEFA27CD}" type="pres">
      <dgm:prSet presAssocID="{5D8E18F5-C91B-401A-B96D-D84DC4D55136}" presName="text2" presStyleLbl="fgAcc2" presStyleIdx="1" presStyleCnt="2">
        <dgm:presLayoutVars>
          <dgm:chPref val="3"/>
        </dgm:presLayoutVars>
      </dgm:prSet>
      <dgm:spPr/>
    </dgm:pt>
    <dgm:pt modelId="{28BE99B0-0C3E-45B9-95F3-7898191BD108}" type="pres">
      <dgm:prSet presAssocID="{5D8E18F5-C91B-401A-B96D-D84DC4D55136}" presName="hierChild3" presStyleCnt="0"/>
      <dgm:spPr/>
    </dgm:pt>
  </dgm:ptLst>
  <dgm:cxnLst>
    <dgm:cxn modelId="{87925D0F-DC1B-458C-A7C0-82745FB430F0}" type="presOf" srcId="{C8CFB559-144D-426C-882B-EAFA3E3C914D}" destId="{BC9FBA4C-C539-4964-9FE6-5DD294012E38}" srcOrd="0" destOrd="0" presId="urn:microsoft.com/office/officeart/2005/8/layout/hierarchy1"/>
    <dgm:cxn modelId="{DB654525-71AE-4FCF-99D6-92FEBA94E466}" type="presOf" srcId="{CC647A82-AD40-4255-9BAC-1461F22E96C7}" destId="{F38EF4E7-93C6-4E39-9CE7-9D819D6969C3}" srcOrd="0" destOrd="0" presId="urn:microsoft.com/office/officeart/2005/8/layout/hierarchy1"/>
    <dgm:cxn modelId="{37516333-DCED-4F64-BCBD-1A240813AE6E}" srcId="{3CB0F03D-5CAD-4946-BBC5-AD09C00B78B1}" destId="{7173E628-AEC5-4A13-AD9E-0ACF92C44BBA}" srcOrd="1" destOrd="0" parTransId="{26B2380E-9916-4419-9998-668B8598E917}" sibTransId="{C8787F58-C4E1-49F8-88F2-5B1AD7543A3B}"/>
    <dgm:cxn modelId="{8B2FB134-0E8C-4E35-996F-348EF1758EB2}" srcId="{7173E628-AEC5-4A13-AD9E-0ACF92C44BBA}" destId="{CC647A82-AD40-4255-9BAC-1461F22E96C7}" srcOrd="0" destOrd="0" parTransId="{C8CFB559-144D-426C-882B-EAFA3E3C914D}" sibTransId="{C177EDB9-035E-4E3F-AA64-39A6C26EAE08}"/>
    <dgm:cxn modelId="{A6D54C67-F1D3-4F79-8780-3CA37B498DCC}" type="presOf" srcId="{5D8E18F5-C91B-401A-B96D-D84DC4D55136}" destId="{6DD2B9A9-9C91-4553-87F8-2276BEFA27CD}" srcOrd="0" destOrd="0" presId="urn:microsoft.com/office/officeart/2005/8/layout/hierarchy1"/>
    <dgm:cxn modelId="{3F1CC34D-AEB7-4752-9EF1-6092316C3975}" srcId="{3CB0F03D-5CAD-4946-BBC5-AD09C00B78B1}" destId="{EEF4758A-BB2D-41FB-AEDE-A99B5A8009E8}" srcOrd="0" destOrd="0" parTransId="{3E027838-748C-4DF1-B1D3-3CC75F14585A}" sibTransId="{C1D99ED4-2211-4551-9894-F938AB6178BC}"/>
    <dgm:cxn modelId="{BF15156E-7BE1-4DE0-9A22-7EB4C0B49E62}" type="presOf" srcId="{625195F7-1DDA-47DB-9D92-49353336C5DB}" destId="{FC52C394-B293-4CBD-A7D8-49540310699C}" srcOrd="0" destOrd="0" presId="urn:microsoft.com/office/officeart/2005/8/layout/hierarchy1"/>
    <dgm:cxn modelId="{C7B3B751-854C-4F5A-923C-BDFF2C82806E}" type="presOf" srcId="{7173E628-AEC5-4A13-AD9E-0ACF92C44BBA}" destId="{D5EE8C27-9EE2-4395-886B-CD012506B452}" srcOrd="0" destOrd="0" presId="urn:microsoft.com/office/officeart/2005/8/layout/hierarchy1"/>
    <dgm:cxn modelId="{1BB8B19E-E0D0-4A70-AA51-3D7FD4F93E27}" type="presOf" srcId="{EEF4758A-BB2D-41FB-AEDE-A99B5A8009E8}" destId="{ED113395-C147-4E5A-86D7-EF96C688C184}" srcOrd="0" destOrd="0" presId="urn:microsoft.com/office/officeart/2005/8/layout/hierarchy1"/>
    <dgm:cxn modelId="{DD0E60EF-317B-4D24-92B4-CBAB8158F3A9}" type="presOf" srcId="{3CB0F03D-5CAD-4946-BBC5-AD09C00B78B1}" destId="{6D755073-2DA6-48EB-96BC-D64F5F810507}" srcOrd="0" destOrd="0" presId="urn:microsoft.com/office/officeart/2005/8/layout/hierarchy1"/>
    <dgm:cxn modelId="{E2BD84FC-DDA5-4258-9515-F15790FD57B8}" srcId="{7173E628-AEC5-4A13-AD9E-0ACF92C44BBA}" destId="{5D8E18F5-C91B-401A-B96D-D84DC4D55136}" srcOrd="1" destOrd="0" parTransId="{625195F7-1DDA-47DB-9D92-49353336C5DB}" sibTransId="{2B0D5262-2461-4DE8-97A4-246AE0CF9EA6}"/>
    <dgm:cxn modelId="{496C9B59-FCAC-4CA6-A8A0-D64CAA91E69D}" type="presParOf" srcId="{6D755073-2DA6-48EB-96BC-D64F5F810507}" destId="{24BDCA19-432F-4DAB-A591-0E7D921058E9}" srcOrd="0" destOrd="0" presId="urn:microsoft.com/office/officeart/2005/8/layout/hierarchy1"/>
    <dgm:cxn modelId="{9A6C9129-642F-4007-9D8B-D081B5638543}" type="presParOf" srcId="{24BDCA19-432F-4DAB-A591-0E7D921058E9}" destId="{842DAD63-E8F8-4464-8DAC-C47DC1B4D3E1}" srcOrd="0" destOrd="0" presId="urn:microsoft.com/office/officeart/2005/8/layout/hierarchy1"/>
    <dgm:cxn modelId="{1EEC23BB-1DDE-470B-8BA4-4A36E0DF80F9}" type="presParOf" srcId="{842DAD63-E8F8-4464-8DAC-C47DC1B4D3E1}" destId="{CB3AA623-0319-493D-AED6-030CF19FA886}" srcOrd="0" destOrd="0" presId="urn:microsoft.com/office/officeart/2005/8/layout/hierarchy1"/>
    <dgm:cxn modelId="{F0705EEB-5850-42AE-AC24-C03970D3FC1C}" type="presParOf" srcId="{842DAD63-E8F8-4464-8DAC-C47DC1B4D3E1}" destId="{ED113395-C147-4E5A-86D7-EF96C688C184}" srcOrd="1" destOrd="0" presId="urn:microsoft.com/office/officeart/2005/8/layout/hierarchy1"/>
    <dgm:cxn modelId="{48E6C765-A007-499E-8534-4332543D71B7}" type="presParOf" srcId="{24BDCA19-432F-4DAB-A591-0E7D921058E9}" destId="{47019D66-792F-4B4C-9DFC-5992EA5C6615}" srcOrd="1" destOrd="0" presId="urn:microsoft.com/office/officeart/2005/8/layout/hierarchy1"/>
    <dgm:cxn modelId="{57E2D3C5-CE7C-4855-877F-3EB44A2CECD9}" type="presParOf" srcId="{6D755073-2DA6-48EB-96BC-D64F5F810507}" destId="{0F5B3373-A813-49AB-AE84-EEF6029767EF}" srcOrd="1" destOrd="0" presId="urn:microsoft.com/office/officeart/2005/8/layout/hierarchy1"/>
    <dgm:cxn modelId="{51B155DB-CCB1-4AA5-BD3A-22C55CA9695A}" type="presParOf" srcId="{0F5B3373-A813-49AB-AE84-EEF6029767EF}" destId="{721B1342-4ACE-4BDF-BDE8-22647ABC1EE3}" srcOrd="0" destOrd="0" presId="urn:microsoft.com/office/officeart/2005/8/layout/hierarchy1"/>
    <dgm:cxn modelId="{D4CC76D5-3C4F-4E96-9D90-EB45213BEF85}" type="presParOf" srcId="{721B1342-4ACE-4BDF-BDE8-22647ABC1EE3}" destId="{D5F8831D-1809-4DCD-ACB8-477CA170B9DB}" srcOrd="0" destOrd="0" presId="urn:microsoft.com/office/officeart/2005/8/layout/hierarchy1"/>
    <dgm:cxn modelId="{77CB9475-D383-43F0-AD8D-FE6C6FF2EFE4}" type="presParOf" srcId="{721B1342-4ACE-4BDF-BDE8-22647ABC1EE3}" destId="{D5EE8C27-9EE2-4395-886B-CD012506B452}" srcOrd="1" destOrd="0" presId="urn:microsoft.com/office/officeart/2005/8/layout/hierarchy1"/>
    <dgm:cxn modelId="{8FCA689C-65E7-4185-A7F1-1D65324D5959}" type="presParOf" srcId="{0F5B3373-A813-49AB-AE84-EEF6029767EF}" destId="{8E8D861C-CD26-4ED7-93EB-BA7803FB0DB7}" srcOrd="1" destOrd="0" presId="urn:microsoft.com/office/officeart/2005/8/layout/hierarchy1"/>
    <dgm:cxn modelId="{23E58353-E8AF-4AD3-83AE-D675511152C6}" type="presParOf" srcId="{8E8D861C-CD26-4ED7-93EB-BA7803FB0DB7}" destId="{BC9FBA4C-C539-4964-9FE6-5DD294012E38}" srcOrd="0" destOrd="0" presId="urn:microsoft.com/office/officeart/2005/8/layout/hierarchy1"/>
    <dgm:cxn modelId="{A360FD70-9042-4D82-81F0-654EBBFE273B}" type="presParOf" srcId="{8E8D861C-CD26-4ED7-93EB-BA7803FB0DB7}" destId="{6FCD95F1-27DD-4701-9B3C-4691CDB02388}" srcOrd="1" destOrd="0" presId="urn:microsoft.com/office/officeart/2005/8/layout/hierarchy1"/>
    <dgm:cxn modelId="{92F4CB06-73D0-43A2-BA28-4E24DAA4C934}" type="presParOf" srcId="{6FCD95F1-27DD-4701-9B3C-4691CDB02388}" destId="{21C821CD-8366-4408-8E60-21FD6E90FD8B}" srcOrd="0" destOrd="0" presId="urn:microsoft.com/office/officeart/2005/8/layout/hierarchy1"/>
    <dgm:cxn modelId="{567688CB-84C2-48F5-A82F-39986E0E3F7B}" type="presParOf" srcId="{21C821CD-8366-4408-8E60-21FD6E90FD8B}" destId="{5A701078-2BDE-4A0F-ACF3-010B244C9A3B}" srcOrd="0" destOrd="0" presId="urn:microsoft.com/office/officeart/2005/8/layout/hierarchy1"/>
    <dgm:cxn modelId="{70BA1C44-18D3-49B1-A9D6-26FC28C8B536}" type="presParOf" srcId="{21C821CD-8366-4408-8E60-21FD6E90FD8B}" destId="{F38EF4E7-93C6-4E39-9CE7-9D819D6969C3}" srcOrd="1" destOrd="0" presId="urn:microsoft.com/office/officeart/2005/8/layout/hierarchy1"/>
    <dgm:cxn modelId="{E3C50B5C-62B2-467E-A0F0-43201C263404}" type="presParOf" srcId="{6FCD95F1-27DD-4701-9B3C-4691CDB02388}" destId="{112C72B5-2E64-400D-A564-120022671BED}" srcOrd="1" destOrd="0" presId="urn:microsoft.com/office/officeart/2005/8/layout/hierarchy1"/>
    <dgm:cxn modelId="{142EB945-C2BC-49A8-B045-AB9517C5B560}" type="presParOf" srcId="{8E8D861C-CD26-4ED7-93EB-BA7803FB0DB7}" destId="{FC52C394-B293-4CBD-A7D8-49540310699C}" srcOrd="2" destOrd="0" presId="urn:microsoft.com/office/officeart/2005/8/layout/hierarchy1"/>
    <dgm:cxn modelId="{A4925368-1F46-49BF-9EDE-C18A0F1D6EF3}" type="presParOf" srcId="{8E8D861C-CD26-4ED7-93EB-BA7803FB0DB7}" destId="{23C4F75C-4E9B-4C45-83B1-8E4B6E51E832}" srcOrd="3" destOrd="0" presId="urn:microsoft.com/office/officeart/2005/8/layout/hierarchy1"/>
    <dgm:cxn modelId="{7F0E8339-FA84-4F98-86BC-E5FCB920B995}" type="presParOf" srcId="{23C4F75C-4E9B-4C45-83B1-8E4B6E51E832}" destId="{B32F7FAC-0960-461C-A065-0CF8A7CDB593}" srcOrd="0" destOrd="0" presId="urn:microsoft.com/office/officeart/2005/8/layout/hierarchy1"/>
    <dgm:cxn modelId="{12E057AF-BB70-4A59-92F1-52501A956814}" type="presParOf" srcId="{B32F7FAC-0960-461C-A065-0CF8A7CDB593}" destId="{80244BC9-7246-4A88-B9C5-F007B20D85FC}" srcOrd="0" destOrd="0" presId="urn:microsoft.com/office/officeart/2005/8/layout/hierarchy1"/>
    <dgm:cxn modelId="{11D276DE-3D63-42BE-85A2-40E0AC85050B}" type="presParOf" srcId="{B32F7FAC-0960-461C-A065-0CF8A7CDB593}" destId="{6DD2B9A9-9C91-4553-87F8-2276BEFA27CD}" srcOrd="1" destOrd="0" presId="urn:microsoft.com/office/officeart/2005/8/layout/hierarchy1"/>
    <dgm:cxn modelId="{3B411747-A451-4909-86B7-5EDCE1D01F0F}" type="presParOf" srcId="{23C4F75C-4E9B-4C45-83B1-8E4B6E51E832}" destId="{28BE99B0-0C3E-45B9-95F3-7898191BD1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2C394-B293-4CBD-A7D8-49540310699C}">
      <dsp:nvSpPr>
        <dsp:cNvPr id="0" name=""/>
        <dsp:cNvSpPr/>
      </dsp:nvSpPr>
      <dsp:spPr>
        <a:xfrm>
          <a:off x="4595793" y="1658426"/>
          <a:ext cx="1594861" cy="7590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242"/>
              </a:lnTo>
              <a:lnTo>
                <a:pt x="1594861" y="517242"/>
              </a:lnTo>
              <a:lnTo>
                <a:pt x="1594861" y="75900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FBA4C-C539-4964-9FE6-5DD294012E38}">
      <dsp:nvSpPr>
        <dsp:cNvPr id="0" name=""/>
        <dsp:cNvSpPr/>
      </dsp:nvSpPr>
      <dsp:spPr>
        <a:xfrm>
          <a:off x="3000931" y="1658426"/>
          <a:ext cx="1594861" cy="759009"/>
        </a:xfrm>
        <a:custGeom>
          <a:avLst/>
          <a:gdLst/>
          <a:ahLst/>
          <a:cxnLst/>
          <a:rect l="0" t="0" r="0" b="0"/>
          <a:pathLst>
            <a:path>
              <a:moveTo>
                <a:pt x="1594861" y="0"/>
              </a:moveTo>
              <a:lnTo>
                <a:pt x="1594861" y="517242"/>
              </a:lnTo>
              <a:lnTo>
                <a:pt x="0" y="517242"/>
              </a:lnTo>
              <a:lnTo>
                <a:pt x="0" y="75900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3AA623-0319-493D-AED6-030CF19FA886}">
      <dsp:nvSpPr>
        <dsp:cNvPr id="0" name=""/>
        <dsp:cNvSpPr/>
      </dsp:nvSpPr>
      <dsp:spPr>
        <a:xfrm>
          <a:off x="101183" y="1220"/>
          <a:ext cx="2609773" cy="1657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13395-C147-4E5A-86D7-EF96C688C184}">
      <dsp:nvSpPr>
        <dsp:cNvPr id="0" name=""/>
        <dsp:cNvSpPr/>
      </dsp:nvSpPr>
      <dsp:spPr>
        <a:xfrm>
          <a:off x="391157" y="276696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project automates the 'Cookie Clicker' game using UiPath workflows and activities for parallel browser interactions and event notifications about the progress (via email).</a:t>
          </a:r>
        </a:p>
      </dsp:txBody>
      <dsp:txXfrm>
        <a:off x="439695" y="325234"/>
        <a:ext cx="2512697" cy="1560130"/>
      </dsp:txXfrm>
    </dsp:sp>
    <dsp:sp modelId="{D5F8831D-1809-4DCD-ACB8-477CA170B9DB}">
      <dsp:nvSpPr>
        <dsp:cNvPr id="0" name=""/>
        <dsp:cNvSpPr/>
      </dsp:nvSpPr>
      <dsp:spPr>
        <a:xfrm>
          <a:off x="3290906" y="1220"/>
          <a:ext cx="2609773" cy="1657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E8C27-9EE2-4395-886B-CD012506B452}">
      <dsp:nvSpPr>
        <dsp:cNvPr id="0" name=""/>
        <dsp:cNvSpPr/>
      </dsp:nvSpPr>
      <dsp:spPr>
        <a:xfrm>
          <a:off x="3580881" y="276696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Tools Used:</a:t>
          </a:r>
        </a:p>
      </dsp:txBody>
      <dsp:txXfrm>
        <a:off x="3629419" y="325234"/>
        <a:ext cx="2512697" cy="1560130"/>
      </dsp:txXfrm>
    </dsp:sp>
    <dsp:sp modelId="{5A701078-2BDE-4A0F-ACF3-010B244C9A3B}">
      <dsp:nvSpPr>
        <dsp:cNvPr id="0" name=""/>
        <dsp:cNvSpPr/>
      </dsp:nvSpPr>
      <dsp:spPr>
        <a:xfrm>
          <a:off x="1696044" y="2417435"/>
          <a:ext cx="2609773" cy="16572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EF4E7-93C6-4E39-9CE7-9D819D6969C3}">
      <dsp:nvSpPr>
        <dsp:cNvPr id="0" name=""/>
        <dsp:cNvSpPr/>
      </dsp:nvSpPr>
      <dsp:spPr>
        <a:xfrm>
          <a:off x="1986019" y="2692911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UiPath System, Mail, UI automation activities</a:t>
          </a:r>
        </a:p>
      </dsp:txBody>
      <dsp:txXfrm>
        <a:off x="2034557" y="2741449"/>
        <a:ext cx="2512697" cy="1560130"/>
      </dsp:txXfrm>
    </dsp:sp>
    <dsp:sp modelId="{80244BC9-7246-4A88-B9C5-F007B20D85FC}">
      <dsp:nvSpPr>
        <dsp:cNvPr id="0" name=""/>
        <dsp:cNvSpPr/>
      </dsp:nvSpPr>
      <dsp:spPr>
        <a:xfrm>
          <a:off x="4885768" y="2417435"/>
          <a:ext cx="2609773" cy="16572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2B9A9-9C91-4553-87F8-2276BEFA27CD}">
      <dsp:nvSpPr>
        <dsp:cNvPr id="0" name=""/>
        <dsp:cNvSpPr/>
      </dsp:nvSpPr>
      <dsp:spPr>
        <a:xfrm>
          <a:off x="5175743" y="2692911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Modern workflow execution</a:t>
          </a:r>
        </a:p>
      </dsp:txBody>
      <dsp:txXfrm>
        <a:off x="5224281" y="2741449"/>
        <a:ext cx="2512697" cy="1560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7" Type="http://schemas.openxmlformats.org/officeDocument/2006/relationships/image" Target="../media/image17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g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Video 5" descr="Box Packages">
            <a:extLst>
              <a:ext uri="{FF2B5EF4-FFF2-40B4-BE49-F238E27FC236}">
                <a16:creationId xmlns:a16="http://schemas.microsoft.com/office/drawing/2014/main" id="{50FD7D9F-222B-01D3-4452-D6B7B375A8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811" r="11976" b="1"/>
          <a:stretch/>
        </p:blipFill>
        <p:spPr>
          <a:xfrm>
            <a:off x="2" y="-22"/>
            <a:ext cx="9143998" cy="68580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11893" y="2511887"/>
            <a:ext cx="6858003" cy="1834218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0780" y="1682484"/>
            <a:ext cx="6858003" cy="349301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4" y="728897"/>
            <a:ext cx="4089397" cy="3728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0066CC"/>
                </a:solidFill>
              </a:defRPr>
            </a:pPr>
            <a:r>
              <a:rPr lang="en-US" sz="4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Cookie Clicker Automation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4291" y="4629217"/>
            <a:ext cx="4087109" cy="1499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C0C0C0"/>
                </a:solidFill>
              </a:defRPr>
            </a:pPr>
            <a:r>
              <a:rPr lang="en-US" sz="2400" dirty="0">
                <a:solidFill>
                  <a:srgbClr val="FFFFFF"/>
                </a:solidFill>
              </a:rPr>
              <a:t>A UiPath RPA Process</a:t>
            </a:r>
          </a:p>
          <a:p>
            <a:pPr algn="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C0C0C0"/>
                </a:solidFill>
              </a:defRPr>
            </a:pPr>
            <a:r>
              <a:rPr lang="en-US" sz="2400" dirty="0">
                <a:solidFill>
                  <a:srgbClr val="FFFFFF"/>
                </a:solidFill>
              </a:rPr>
              <a:t>Mentor: Andreea Diana Pop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white background&#10;&#10;Description automatically generated">
            <a:extLst>
              <a:ext uri="{FF2B5EF4-FFF2-40B4-BE49-F238E27FC236}">
                <a16:creationId xmlns:a16="http://schemas.microsoft.com/office/drawing/2014/main" id="{FE0AF990-D2D2-74F0-5CF9-02A76645EB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8" r="9816" b="1449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7C71B3-24ED-C9AF-3EE1-FA34DE1FC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82746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45004C79-D824-35C6-EDCC-BF0E58B69F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24864" y="4485966"/>
            <a:ext cx="752168" cy="752168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FBB51857-65DB-4A54-B89C-4449D45C45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7162" y="4485966"/>
            <a:ext cx="752168" cy="752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Particularities and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421963" cy="405310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b="1" dirty="0"/>
              <a:t>Layered Architecture:</a:t>
            </a:r>
            <a:br>
              <a:rPr lang="en-US" sz="1600" dirty="0"/>
            </a:br>
            <a:r>
              <a:rPr lang="en-US" sz="1600" dirty="0"/>
              <a:t>A structured design with dedicated workflows for each core activity and automation process.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Parallel Processing:</a:t>
            </a:r>
            <a:br>
              <a:rPr lang="en-US" sz="1600" dirty="0"/>
            </a:br>
            <a:r>
              <a:rPr lang="en-US" sz="1600" dirty="0"/>
              <a:t>Simultaneous operations for improved efficiency, such as generating cookies while checking for potential upgrades in real time. (this one was a key challenge)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Upgrade Selection Strategy:</a:t>
            </a:r>
            <a:br>
              <a:rPr lang="en-US" sz="1600" dirty="0"/>
            </a:br>
            <a:r>
              <a:rPr lang="en-US" sz="1600" dirty="0"/>
              <a:t>An optimization "algorithm" that selects the most suitable upgrades for the current game stage, ensuring maximum progress in minimal time. (also a key challenge)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Exception Handling:</a:t>
            </a:r>
            <a:br>
              <a:rPr lang="en-US" sz="1600" dirty="0"/>
            </a:br>
            <a:r>
              <a:rPr lang="en-US" sz="1600" dirty="0"/>
              <a:t>Robust exception management to ensure a smooth user experience and maintain uninterrupted workflow execution.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Comprehensive Automation</a:t>
            </a:r>
            <a:r>
              <a:rPr lang="en-US" sz="16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        Automation covers both in-game actions and external notifications 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en-US" sz="1300" dirty="0"/>
              <a:t>	</a:t>
            </a:r>
          </a:p>
        </p:txBody>
      </p:sp>
      <p:pic>
        <p:nvPicPr>
          <p:cNvPr id="13" name="Graphic 12" descr="Hurdle outline">
            <a:extLst>
              <a:ext uri="{FF2B5EF4-FFF2-40B4-BE49-F238E27FC236}">
                <a16:creationId xmlns:a16="http://schemas.microsoft.com/office/drawing/2014/main" id="{818E1A1F-4D3B-910A-7434-7D348A01C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811" y="3091016"/>
            <a:ext cx="675968" cy="675968"/>
          </a:xfrm>
          <a:prstGeom prst="rect">
            <a:avLst/>
          </a:prstGeom>
        </p:spPr>
      </p:pic>
      <p:pic>
        <p:nvPicPr>
          <p:cNvPr id="15" name="Graphic 14" descr="Hurdle outline">
            <a:extLst>
              <a:ext uri="{FF2B5EF4-FFF2-40B4-BE49-F238E27FC236}">
                <a16:creationId xmlns:a16="http://schemas.microsoft.com/office/drawing/2014/main" id="{8BB2E48F-7F8D-4189-F72C-F4477010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731" y="3766984"/>
            <a:ext cx="675968" cy="6759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437" y="501651"/>
            <a:ext cx="3311136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Additional Aspects to Mention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EE333164-0EE6-CD54-34F3-E94945871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0" r="38142" b="-1"/>
          <a:stretch/>
        </p:blipFill>
        <p:spPr>
          <a:xfrm>
            <a:off x="209357" y="299509"/>
            <a:ext cx="3916219" cy="625898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437" y="2645922"/>
            <a:ext cx="3326041" cy="3710427"/>
          </a:xfrm>
        </p:spPr>
        <p:txBody>
          <a:bodyPr anchor="t">
            <a:normAutofit/>
          </a:bodyPr>
          <a:lstStyle/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We estimate that our application will achieve 2.5 times better progress than a human who continuously clicks and selects the best upgrades 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over an extensive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period.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However, given that such consistency is nearly impossible for a human, our automation is projected to be approximately 4 times ahead in terms of game progression.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Business Growth with solid fill">
            <a:extLst>
              <a:ext uri="{FF2B5EF4-FFF2-40B4-BE49-F238E27FC236}">
                <a16:creationId xmlns:a16="http://schemas.microsoft.com/office/drawing/2014/main" id="{5A97134F-6D30-90AF-50B1-3545CE86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6593" y="1438444"/>
            <a:ext cx="1163027" cy="1163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8265E-9EFA-C2CC-493E-E3DD955A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793243-10DA-D04C-593B-54DA864B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6091" y="762612"/>
            <a:ext cx="2776935" cy="1616203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Additional Aspects to Mention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765A4-D1B2-ABE8-FBE3-3CC81F63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This chart illustrates the comparison between a user who continuously clicks and makes optimal upgrade choices and the progress achieved by our automation.</a:t>
            </a:r>
          </a:p>
          <a:p>
            <a:endParaRPr lang="en-US" sz="17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F9F41-529F-8BF8-9C64-4A8C53DF2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42" y="1337187"/>
            <a:ext cx="5225657" cy="3824748"/>
          </a:xfrm>
          <a:prstGeom prst="rect">
            <a:avLst/>
          </a:prstGeom>
        </p:spPr>
      </p:pic>
      <p:pic>
        <p:nvPicPr>
          <p:cNvPr id="7" name="Graphic 6" descr="Robot with solid fill">
            <a:extLst>
              <a:ext uri="{FF2B5EF4-FFF2-40B4-BE49-F238E27FC236}">
                <a16:creationId xmlns:a16="http://schemas.microsoft.com/office/drawing/2014/main" id="{49A05A31-A400-834E-D601-D29F1B249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2206" y="1176433"/>
            <a:ext cx="1104229" cy="110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54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/>
              <a:t>Summary: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Showcased the effectiveness of RPA in a real life scenario, repetitive tasks within a gamified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Demonstrated the application's ability to make optimized decisions in real-time for upgrades, outperforming human players.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Ensured a robust and seamless process through comprehensive error handling and separated workflows.</a:t>
            </a:r>
          </a:p>
          <a:p>
            <a:pPr marL="0" indent="0">
              <a:buNone/>
            </a:pPr>
            <a:r>
              <a:rPr lang="en-US" sz="1700" b="1"/>
              <a:t>Insights: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The automation achieves significant performance improvements, progressing faster than a human player due to consistent and efficient execution.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Our solution gives to the player the ability track its progress by the generated reports received by email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 rot="900000">
            <a:off x="4239569" y="48096"/>
            <a:ext cx="1097280" cy="109728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 rot="900000">
            <a:off x="5186320" y="277783"/>
            <a:ext cx="20703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rPr lang="en-US" dirty="0"/>
              <a:t>Kalman Andrei Horatiu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 rot="900000">
            <a:off x="7068025" y="1061337"/>
            <a:ext cx="20780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rPr lang="en-US" dirty="0"/>
              <a:t>Manea Robert </a:t>
            </a:r>
            <a:r>
              <a:rPr lang="en-US" dirty="0" err="1"/>
              <a:t>Petrisor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 rot="900000">
            <a:off x="4168921" y="3070452"/>
            <a:ext cx="16535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rPr lang="en-US" dirty="0" err="1"/>
              <a:t>Ichim</a:t>
            </a:r>
            <a:r>
              <a:rPr lang="en-US" dirty="0"/>
              <a:t> Andrei Vlad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 rot="900000">
            <a:off x="6552199" y="4384417"/>
            <a:ext cx="16487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rPr lang="en-US" dirty="0" err="1"/>
              <a:t>Jorza</a:t>
            </a:r>
            <a:r>
              <a:rPr lang="en-US" dirty="0"/>
              <a:t> </a:t>
            </a:r>
            <a:r>
              <a:rPr lang="en-US" dirty="0" err="1"/>
              <a:t>Ionut</a:t>
            </a:r>
            <a:r>
              <a:rPr lang="en-US" dirty="0"/>
              <a:t> Traian</a:t>
            </a:r>
            <a:endParaRPr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0EC175-7CB2-7DE5-34A5-B1891C1C6338}"/>
              </a:ext>
            </a:extLst>
          </p:cNvPr>
          <p:cNvSpPr/>
          <p:nvPr/>
        </p:nvSpPr>
        <p:spPr>
          <a:xfrm rot="900000">
            <a:off x="6155975" y="889302"/>
            <a:ext cx="1097280" cy="1097280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EEB467-EEAD-E030-51D4-8B4FC3D8D46F}"/>
              </a:ext>
            </a:extLst>
          </p:cNvPr>
          <p:cNvSpPr/>
          <p:nvPr/>
        </p:nvSpPr>
        <p:spPr>
          <a:xfrm rot="900000">
            <a:off x="3021909" y="2693961"/>
            <a:ext cx="1097280" cy="109728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72AE632-B990-E250-7F72-CFC54FEF5474}"/>
              </a:ext>
            </a:extLst>
          </p:cNvPr>
          <p:cNvSpPr/>
          <p:nvPr/>
        </p:nvSpPr>
        <p:spPr>
          <a:xfrm rot="900000">
            <a:off x="5484029" y="3740525"/>
            <a:ext cx="1097280" cy="1097280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9" grpId="0"/>
      <p:bldP spid="11" grpId="0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371</Words>
  <Application>Microsoft Office PowerPoint</Application>
  <PresentationFormat>On-screen Show (4:3)</PresentationFormat>
  <Paragraphs>33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Project Overview</vt:lpstr>
      <vt:lpstr>Particularities and Key Challenges</vt:lpstr>
      <vt:lpstr>Additional Aspects to Mention</vt:lpstr>
      <vt:lpstr>Additional Aspects to Mention</vt:lpstr>
      <vt:lpstr>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VLAD-ANDREI ICHIM</cp:lastModifiedBy>
  <cp:revision>9</cp:revision>
  <dcterms:created xsi:type="dcterms:W3CDTF">2013-01-27T09:14:16Z</dcterms:created>
  <dcterms:modified xsi:type="dcterms:W3CDTF">2025-01-16T08:48:41Z</dcterms:modified>
  <cp:category/>
</cp:coreProperties>
</file>